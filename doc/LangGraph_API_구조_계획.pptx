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5F5F5"/>
                </a:solidFill>
                <a:latin typeface="맑은 고딕"/>
              </a:defRPr>
            </a:pPr>
            <a:r>
              <a:t>LangGraph 기반 API 구조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0A0B0"/>
                </a:solidFill>
                <a:latin typeface="맑은 고딕"/>
              </a:defRPr>
            </a:pPr>
            <a:r>
              <a:t>LLM Chatbot 프로젝트 아키텍처 설계 문서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840480"/>
            <a:ext cx="3931920" cy="381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6E3A1"/>
                </a:solidFill>
                <a:latin typeface="맑은 고딕"/>
              </a:defRPr>
            </a:pPr>
            <a:r>
              <a:t>Workflow Orchestration  ·  MCP Tool Calling  ·  RAG  ·  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01. 목적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0A0B0"/>
                </a:solidFill>
                <a:latin typeface="맑은 고딕"/>
              </a:defRPr>
            </a:pPr>
            <a:r>
              <a:t>현재: Cube → queue → worker → LLM → Cube 응답 (단순 흐름)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F5F5"/>
                </a:solidFill>
                <a:latin typeface="맑은 고딕"/>
              </a:defRPr>
            </a:pPr>
            <a:r>
              <a:t>앞으로 수용해야 할 방향: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  <a:latin typeface="맑은 고딕"/>
              </a:defRPr>
            </a:pPr>
            <a:r>
              <a:t>  LangGraph 기반 workflow orchestration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  <a:latin typeface="맑은 고딕"/>
              </a:defRPr>
            </a:pPr>
            <a:r>
              <a:t>  Conditional routing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  <a:latin typeface="맑은 고딕"/>
              </a:defRPr>
            </a:pPr>
            <a:r>
              <a:t>  MCP tool calling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  <a:latin typeface="맑은 고딕"/>
              </a:defRPr>
            </a:pPr>
            <a:r>
              <a:t>  RAG workflow 추가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  <a:latin typeface="맑은 고딕"/>
              </a:defRPr>
            </a:pPr>
            <a:r>
              <a:t>  Agent workflow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029200"/>
            <a:ext cx="10515600" cy="91440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800" b="0">
                <a:solidFill>
                  <a:srgbClr val="F9E2AF"/>
                </a:solidFill>
                <a:latin typeface="맑은 고딕"/>
              </a:defRPr>
            </a:pPr>
            <a:r>
              <a:t>이 문서는 위 요구를 반영해 api/ 폴더를 어떻게 나누는 것이 적절한지 정리한다.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02. 핵심 설계 원칙 (1/3)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14630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유스케이스와 workflow 구현을 분리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api/chat/ → 애플리케이션 계층 (유스케이스)</a:t>
            </a:r>
            <a:br/>
            <a:r>
              <a:t>api/workflows/chat/ → LangGraph 구현 계층</a:t>
            </a:r>
            <a:br/>
            <a:r>
              <a:t>→ workflow 엔진을 바꿔도 진입점 유지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" cy="146304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MCP는 처음부터 확장형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api/mcp/ → 별도 인프라 계층</a:t>
            </a:r>
            <a:br/>
            <a:r>
              <a:t>서버 레지스트리, tool 캐시, schema 변환, 실행 라우팅</a:t>
            </a:r>
            <a:br/>
            <a:r>
              <a:t>→ MCP 서버 수 증가에 대비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91840"/>
            <a:ext cx="54864" cy="18288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2461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RAG와 Agent는 점진적 승격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49039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초기: chat workflow 안에서 node 수준 호출</a:t>
            </a:r>
            <a:br/>
            <a:r>
              <a:t>복잡해지면 workflows/rag, workflows/agent로 분리</a:t>
            </a:r>
            <a:br/>
            <a:br/>
            <a:r>
              <a:t>• 단순 retrieval → api/rag/</a:t>
            </a:r>
            <a:br/>
            <a:r>
              <a:t>• 독립 RAG subgraph → api/workflows/rag/</a:t>
            </a:r>
            <a:br/>
            <a:r>
              <a:t>• 독립 agent loop → api/workflows/agent/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291840"/>
            <a:ext cx="54864" cy="18288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246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Cube 계층은 얇게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749039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cube/service.py → 응답 포맷 라우팅만 담당</a:t>
            </a:r>
            <a:br/>
            <a:r>
              <a:t>chat/service.py → ChatResult 구조체 반환</a:t>
            </a:r>
            <a:br/>
            <a:r>
              <a:t>chat/ 계층은 Cube를 전혀 모름</a:t>
            </a:r>
            <a:br/>
            <a:br/>
            <a:r>
              <a:t>→ 테스트·재사용이 쉬운 구조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02. 핵심 설계 원칙 (2/3)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ChatResult 구조체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5029200" cy="22860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500" b="0">
                <a:solidFill>
                  <a:srgbClr val="F9E2AF"/>
                </a:solidFill>
                <a:latin typeface="맑은 고딕"/>
              </a:defRPr>
            </a:pPr>
            <a:r>
              <a:t>@dataclass(frozen=True, slots=True)</a:t>
            </a:r>
            <a:br/>
            <a:r>
              <a:t>class ChatResult:</a:t>
            </a:r>
            <a:br/>
            <a:r>
              <a:t>    reply: str            # LLM 텍스트 답변</a:t>
            </a:r>
            <a:br/>
            <a:r>
              <a:t>    model_used: str       # 실제 사용 모델</a:t>
            </a:r>
            <a:br/>
            <a:r>
              <a:t>    tool_calls: list[str] # 호출된 tool 목록</a:t>
            </a:r>
            <a:br/>
            <a:r>
              <a:t>    thread_id: str        # checkpointer thread_id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9B4FA"/>
                </a:solidFill>
                <a:latin typeface="맑은 고딕"/>
              </a:defRPr>
            </a:pPr>
            <a:r>
              <a:t>반환 이유: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75488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cube/service.py가 응답 포맷 선택에 메타데이터 필요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archive/service.py가 model_used, tool_calls 인덱싱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reply만 반환하면 계층 분리가 무너짐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Cube 응답 포맷 전략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011680"/>
            <a:ext cx="2468880" cy="1828800"/>
          </a:xfrm>
          <a:prstGeom prst="roundRect">
            <a:avLst/>
          </a:prstGeom>
          <a:solidFill>
            <a:srgbClr val="25352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A6E3A1"/>
                </a:solidFill>
                <a:latin typeface="맑은 고딕"/>
              </a:defRPr>
            </a:pPr>
            <a:r>
              <a:t>multimessage</a:t>
            </a:r>
            <a:br/>
            <a:br/>
            <a:r>
              <a:t>순수 텍스트</a:t>
            </a:r>
            <a:br/>
            <a:r>
              <a:t>복사 가능</a:t>
            </a:r>
            <a:br/>
            <a:r>
              <a:t>현재 사용 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1828800"/>
          </a:xfrm>
          <a:prstGeom prst="roundRect">
            <a:avLst/>
          </a:prstGeom>
          <a:solidFill>
            <a:srgbClr val="35302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9E2AF"/>
                </a:solidFill>
                <a:latin typeface="맑은 고딕"/>
              </a:defRPr>
            </a:pPr>
            <a:r>
              <a:t>richnotification</a:t>
            </a:r>
            <a:br/>
            <a:br/>
            <a:r>
              <a:t>이미지 기반 렌더링</a:t>
            </a:r>
            <a:br/>
            <a:r>
              <a:t>테이블·버튼 지원</a:t>
            </a:r>
            <a:br/>
            <a:r>
              <a:t>이후 추가 예정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41148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현재 전략:</a:t>
            </a:r>
            <a:br/>
            <a:r>
              <a:t>• 초기: send_multimessage만 사용 (복사 가능 우선)</a:t>
            </a:r>
            <a:br/>
            <a:r>
              <a:t>• 이후: 콘텐츠 유형에 따라 두 포맷 조합</a:t>
            </a:r>
            <a:br/>
            <a:r>
              <a:t>  - 텍스트 답변 → multimessage</a:t>
            </a:r>
            <a:br/>
            <a:r>
              <a:t>  - 구조화 데이터 → richnotification</a:t>
            </a:r>
            <a:br/>
            <a:r>
              <a:t>  - 복합 → 두 포맷 함께 전송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02. 핵심 설계 원칙 (3/3)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164592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LLM 계층: LangChain 모델 레지스트리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사내 LLM: OpenAI-compatible → ChatOpenAI 사용</a:t>
            </a:r>
            <a:br/>
            <a:r>
              <a:t>• api/llm/ = 모델 레지스트리 역할</a:t>
            </a:r>
            <a:br/>
            <a:r>
              <a:t>• 모델별 설정 관리 (base_url, api_key, temperature 등)</a:t>
            </a:r>
            <a:br/>
            <a:r>
              <a:t>• 기존 httpx 직접 호출 → ChatOpenAI로 대체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" cy="164592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E2AF"/>
                </a:solidFill>
                <a:latin typeface="맑은 고딕"/>
              </a:defRPr>
            </a:pPr>
            <a:r>
              <a:t>대화 히스토리: Checkpointer + 아카이빙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MongoDBSaver가 대화 저장/복원 자동 처리</a:t>
            </a:r>
            <a:br/>
            <a:r>
              <a:t>• conversation_service.py 수동 패턴 제거</a:t>
            </a:r>
            <a:br/>
            <a:r>
              <a:t>• 완료 대화 → OpenSearch 아카이빙</a:t>
            </a:r>
            <a:br/>
            <a:r>
              <a:t>• thread_id = user_id 단독 사용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474720"/>
            <a:ext cx="54864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290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맑은 고딕"/>
              </a:defRPr>
            </a:pPr>
            <a:r>
              <a:t>개발/운영 환경 분리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개발: MemorySaver (env var로 선택)</a:t>
            </a:r>
            <a:br/>
            <a:r>
              <a:t>• 운영: MongoDBSaver</a:t>
            </a:r>
            <a:br/>
            <a:r>
              <a:t>• MongoDB 장애 시 → worker 실패 + queue 재시도 (올바른 동작)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474720"/>
            <a:ext cx="54864" cy="13716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3429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맑은 고딕"/>
              </a:defRPr>
            </a:pPr>
            <a:r>
              <a:t>운영 대시보드용 read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93192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단기: reply 전송 시 별도 MongoDB collection에 append</a:t>
            </a:r>
            <a:br/>
            <a:r>
              <a:t>• 중기: archive/ → OpenSearch → 대시보드 조회</a:t>
            </a:r>
            <a:br/>
            <a:r>
              <a:t>• checkpointer는 대시보드 용도에 부적합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03. 권장 api/ 폴더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383280" cy="41148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cube/</a:t>
            </a:r>
            <a:br/>
            <a:r>
              <a:t>  client.py, router.py</a:t>
            </a:r>
            <a:br/>
            <a:r>
              <a:t>  service.py, worker.py</a:t>
            </a:r>
            <a:br/>
            <a:r>
              <a:t>  payload.py, queue.py</a:t>
            </a:r>
            <a:br/>
            <a:r>
              <a:t>  models.py</a:t>
            </a:r>
            <a:br/>
            <a:br/>
            <a:r>
              <a:t>chat/</a:t>
            </a:r>
            <a:br/>
            <a:r>
              <a:t>  service.py, models.py</a:t>
            </a:r>
            <a:br/>
            <a:r>
              <a:t>  history.py, commands.py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371600"/>
            <a:ext cx="3383280" cy="41148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workflows/</a:t>
            </a:r>
            <a:br/>
            <a:r>
              <a:t>  chat/</a:t>
            </a:r>
            <a:br/>
            <a:r>
              <a:t>    graph.py, state.py</a:t>
            </a:r>
            <a:br/>
            <a:r>
              <a:t>    nodes.py, routing.py</a:t>
            </a:r>
            <a:br/>
            <a:r>
              <a:t>    prompts.py</a:t>
            </a:r>
            <a:br/>
            <a:r>
              <a:t>  rag/</a:t>
            </a:r>
            <a:br/>
            <a:r>
              <a:t>    graph.py, state.py, ...</a:t>
            </a:r>
            <a:br/>
            <a:r>
              <a:t>  agent/</a:t>
            </a:r>
            <a:br/>
            <a:r>
              <a:t>    graph.py, state.py, ...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931920" cy="22860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llm/</a:t>
            </a:r>
            <a:br/>
            <a:r>
              <a:t>  registry.py</a:t>
            </a:r>
            <a:br/>
            <a:r>
              <a:t>  prompt/system.py</a:t>
            </a:r>
            <a:br/>
            <a:br/>
            <a:r>
              <a:t>mcp/</a:t>
            </a:r>
            <a:br/>
            <a:r>
              <a:t>  client.py, registry.py</a:t>
            </a:r>
            <a:br/>
            <a:r>
              <a:t>  cache.py, executor.py</a:t>
            </a:r>
            <a:br/>
            <a:r>
              <a:t>  tool_adapter.py</a:t>
            </a:r>
            <a:br/>
            <a:r>
              <a:t>  tool_selector.py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3840480"/>
            <a:ext cx="3931920" cy="219456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rag/</a:t>
            </a:r>
            <a:br/>
            <a:r>
              <a:t>  retriever.py, ranker.py</a:t>
            </a:r>
            <a:br/>
            <a:r>
              <a:t>  context_builder.py</a:t>
            </a:r>
            <a:br/>
            <a:br/>
            <a:r>
              <a:t>archive/</a:t>
            </a:r>
            <a:br/>
            <a:r>
              <a:t>  service.py, extractor.py</a:t>
            </a:r>
            <a:br/>
            <a:r>
              <a:t>  opensearch_client.py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04. 폴더별 책임 — Cube &amp; 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맑은 고딕"/>
              </a:defRPr>
            </a:pPr>
            <a:r>
              <a:t>api/cube/ — Cube 연동 경계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846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HTTP endpoint 수신 &amp; payload parsing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wake-up / empty / duplicate 처리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Redis queue 적재 &amp; worker 루프 실행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최종 Cube 응답 전송 및 포맷 라우팅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ChatResult → multimessage / richnotification 변환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LangGraph 내부 구조를 직접 알지 않음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" cy="32004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api/chat/ — 채팅 유스케이스 계층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run_chat_workflow() 진입점 제공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요청/응답 모델 정의 (ChatResult 포함)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! 접두사 command 판정 및 처리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history 조회/저장 연결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ChatResult 반환 (Cube 전송 안 함)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LangGraph 종속 X — 유스케이스 유지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500" b="0">
                <a:solidFill>
                  <a:srgbClr val="F9E2AF"/>
                </a:solidFill>
                <a:latin typeface="맑은 고딕"/>
              </a:defRPr>
            </a:pPr>
            <a:r>
              <a:t>봇 명령어 (! 접두사):  !model [이름] — 사용할 LLM 모델 변경  |  !remove — 대화 히스토리 삭제</a:t>
            </a:r>
            <a:br/>
            <a:r>
              <a:t>command 감지 시 workflow를 타지 않고 commands.py에서 직접 처리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04. 폴더별 책임 — Workflows, LLM, MCP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" cy="228600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맑은 고딕"/>
              </a:defRPr>
            </a:pPr>
            <a:r>
              <a:t>workflows/chat/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graph 정의 &amp; state 타입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node 함수 구현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conditional routing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tool loop 구현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fallback / 정책 분리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54864" cy="22860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6E3A1"/>
                </a:solidFill>
                <a:latin typeface="맑은 고딕"/>
              </a:defRPr>
            </a:pPr>
            <a:r>
              <a:t>api/llm/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모델 목록 관리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모델별 설정 관리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task 기반 모델 선택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ChatOpenAI 인스턴스 생성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Kimi-K2.5, Qwen3, GPT-OSS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1371600"/>
            <a:ext cx="54864" cy="2286000"/>
          </a:xfrm>
          <a:prstGeom prst="rect">
            <a:avLst/>
          </a:prstGeom>
          <a:solidFill>
            <a:srgbClr val="F9E2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132588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9E2AF"/>
                </a:solidFill>
                <a:latin typeface="맑은 고딕"/>
              </a:defRPr>
            </a:pPr>
            <a:r>
              <a:t>api/mcp/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서버 레지스트리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tool 목록 캐시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MCP → OpenAI schema 변환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tool name 서버 라우팅</a:t>
            </a:r>
          </a:p>
          <a:p>
            <a:pPr>
              <a:spcAft>
                <a:spcPts val="600"/>
              </a:spcAft>
              <a:defRPr sz="1400">
                <a:solidFill>
                  <a:srgbClr val="F5F5F5"/>
                </a:solidFill>
                <a:latin typeface="맑은 고딕"/>
              </a:defRPr>
            </a:pPr>
            <a:r>
              <a:t>  timeout / graceful degradation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137160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Chat Workflow 기본 흐름:  ① context 준비 → ② 필요 tool 선택 → ③ LLM 호출 → ④ tool call 시 실행 후 재호출 → ⑤ 최종 답변 생성</a:t>
            </a:r>
            <a:br/>
            <a:r>
              <a:t>! command는 chat/service.py에서 workflow 진입 전에 처리 (workflow를 타지 않음)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04. 폴더별 책임 — RAG &amp; Archive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4864" cy="1828800"/>
          </a:xfrm>
          <a:prstGeom prst="rect">
            <a:avLst/>
          </a:prstGeom>
          <a:solidFill>
            <a:srgbClr val="A6E3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api/rag/ — Retrieval 기능 계층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4846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retriever, reranker, context builder</a:t>
            </a:r>
            <a:br/>
            <a:r>
              <a:t>• 문서 source adapter</a:t>
            </a:r>
            <a:br/>
            <a:r>
              <a:t>• 초기: chat workflow의 한 node에서 호출</a:t>
            </a:r>
            <a:br/>
            <a:r>
              <a:t>• 복잡해지면 workflows/rag/로 승격</a:t>
            </a:r>
            <a:br/>
            <a:r>
              <a:t>  (query rewrite → retrieval → rerank → compression → fallback)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4864" cy="1828800"/>
          </a:xfrm>
          <a:prstGeom prst="rect">
            <a:avLst/>
          </a:prstGeom>
          <a:solidFill>
            <a:srgbClr val="FAB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25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B387"/>
                </a:solidFill>
                <a:latin typeface="맑은 고딕"/>
              </a:defRPr>
            </a:pPr>
            <a:r>
              <a:t>api/archive/ — 대화 아카이빙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키워드, 주제, 의도 추출 (extractor.py)</a:t>
            </a:r>
            <a:br/>
            <a:r>
              <a:t>• 사용자 만족도 신호 감지</a:t>
            </a:r>
            <a:br/>
            <a:r>
              <a:t>• OpenSearch 인덱싱 (opensearch_client.py)</a:t>
            </a:r>
            <a:br/>
            <a:r>
              <a:t>• 오래된 checkpointer 히스토리 트리밍</a:t>
            </a:r>
            <a:br/>
            <a:r>
              <a:t>• 비동기 수행 — 사용자 응답 속도 영향 없음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657600"/>
            <a:ext cx="10515600" cy="18288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아카이빙 흐름:</a:t>
            </a:r>
            <a:br/>
            <a:r>
              <a:t>cube/service.py → chat/service.py 호출 → ChatResult 수신</a:t>
            </a:r>
            <a:br/>
            <a:r>
              <a:t>                → 응답 포맷 결정 → send_multimessage / richnotification</a:t>
            </a:r>
            <a:br/>
            <a:r>
              <a:t>                → reply_sent 플래그 기록 (Redis, 중복 전송 방지)</a:t>
            </a:r>
            <a:br/>
            <a:r>
              <a:t>                → archive/service.py 호출 (비동기, 실패해도 대화 흐름 영향 없음)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05. 멱등성 전략 &amp; OpenSearch 인덱스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9B4FA"/>
                </a:solidFill>
                <a:latin typeface="맑은 고딕"/>
              </a:defRPr>
            </a:pPr>
            <a:r>
              <a:t>멱등성(Idempotency)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Cube 응답 중복 방지: Redis에 reply_sent 플래그 (짧은 TTL)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아카이빙 멱등성: OpenSearch 문서 ID = message_id (upsert)</a:t>
            </a:r>
          </a:p>
          <a:p>
            <a:pPr>
              <a:spcAft>
                <a:spcPts val="600"/>
              </a:spcAft>
              <a:defRPr sz="1500">
                <a:solidFill>
                  <a:srgbClr val="F5F5F5"/>
                </a:solidFill>
                <a:latin typeface="맑은 고딕"/>
              </a:defRPr>
            </a:pPr>
            <a:r>
              <a:t>  checkpointer 보호: 완료된 graph → 캐시된 결과 반환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B387"/>
                </a:solidFill>
                <a:latin typeface="맑은 고딕"/>
              </a:defRPr>
            </a:pPr>
            <a:r>
              <a:t>불만족 대화 처리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• satisfaction: "unsatisfied" → flagged: true</a:t>
            </a:r>
            <a:br/>
            <a:r>
              <a:t>• OpenSearch에서 flagged 대화 필터링 분석</a:t>
            </a:r>
            <a:br/>
            <a:r>
              <a:t>• 프롬프트 개선, 모델 변경, RAG 소스 보강에 활용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OpenSearch 인덱스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029200" cy="38404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{</a:t>
            </a:r>
            <a:br/>
            <a:r>
              <a:t>  "user_id": "user-123",</a:t>
            </a:r>
            <a:br/>
            <a:r>
              <a:t>  "channel_id": "ch-456",</a:t>
            </a:r>
            <a:br/>
            <a:r>
              <a:t>  "thread_id": "user-123",</a:t>
            </a:r>
            <a:br/>
            <a:r>
              <a:t>  "timestamp": "2026-03-31T...",</a:t>
            </a:r>
            <a:br/>
            <a:r>
              <a:t>  "user_message": "...",</a:t>
            </a:r>
            <a:br/>
            <a:r>
              <a:t>  "assistant_reply": "...",</a:t>
            </a:r>
            <a:br/>
            <a:r>
              <a:t>  "keywords": ["키워드1", ...],</a:t>
            </a:r>
            <a:br/>
            <a:r>
              <a:t>  "topic": "일정 관리",</a:t>
            </a:r>
            <a:br/>
            <a:r>
              <a:t>  "satisfaction": "neutral",</a:t>
            </a:r>
            <a:br/>
            <a:r>
              <a:t>  "model_used": "kimi-k2.5",</a:t>
            </a:r>
            <a:br/>
            <a:r>
              <a:t>  "tool_calls": ["tool_name_1"],</a:t>
            </a:r>
            <a:br/>
            <a:r>
              <a:t>  "flagged": false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06. 왜 chat과 workflows/chat을 분리하는가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926080"/>
          </a:xfrm>
          <a:prstGeom prst="roundRect">
            <a:avLst/>
          </a:prstGeom>
          <a:solidFill>
            <a:srgbClr val="25352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0">
                <a:solidFill>
                  <a:srgbClr val="F5F5F5"/>
                </a:solidFill>
                <a:latin typeface="맑은 고딕"/>
              </a:defRPr>
            </a:pPr>
            <a:r>
              <a:t>api/chat/  —  Use Case 계층</a:t>
            </a:r>
            <a:br/>
            <a:br/>
            <a:r>
              <a:t>• 채팅 유스케이스 계층</a:t>
            </a:r>
            <a:br/>
            <a:r>
              <a:t>• worker/상위 계층이 호출하는 진입점</a:t>
            </a:r>
            <a:br/>
            <a:r>
              <a:t>• 요청/응답 조립</a:t>
            </a:r>
            <a:br/>
            <a:r>
              <a:t>• history 저장 연결</a:t>
            </a:r>
            <a:br/>
            <a:r>
              <a:t>• ! command 판정 및 처리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029200" cy="2926080"/>
          </a:xfrm>
          <a:prstGeom prst="roundRect">
            <a:avLst/>
          </a:prstGeom>
          <a:solidFill>
            <a:srgbClr val="25254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600" b="0">
                <a:solidFill>
                  <a:srgbClr val="F5F5F5"/>
                </a:solidFill>
                <a:latin typeface="맑은 고딕"/>
              </a:defRPr>
            </a:pPr>
            <a:r>
              <a:t>api/workflows/chat/  —  Engine 구현 계층</a:t>
            </a:r>
            <a:br/>
            <a:br/>
            <a:r>
              <a:t>• LangGraph 구현 계층</a:t>
            </a:r>
            <a:br/>
            <a:r>
              <a:t>• state, nodes, routing, tool loop</a:t>
            </a:r>
            <a:br/>
            <a:r>
              <a:t>• graph 정의 &amp; conditional routing</a:t>
            </a:r>
            <a:br/>
            <a:r>
              <a:t>• fallback / 정책 분리</a:t>
            </a:r>
            <a:br/>
            <a:r>
              <a:t>• 재사용 가능한 LangGraph 단위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맑은 고딕"/>
              </a:defRPr>
            </a:pPr>
            <a:r>
              <a:t>분리의 이점: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테스트 경계를 나누기 쉽다</a:t>
            </a:r>
          </a:p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LangGraph 의존 범위를 좁힐 수 있다</a:t>
            </a:r>
          </a:p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다른 orchestration 방식으로 바꿔도 외부 진입점 유지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07. 마이그레이션 경로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AB387"/>
                </a:solidFill>
                <a:latin typeface="맑은 고딕"/>
              </a:defRPr>
            </a:pPr>
            <a:r>
              <a:t>현재 흐름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20240"/>
            <a:ext cx="4846320" cy="3200400"/>
          </a:xfrm>
          <a:prstGeom prst="roundRect">
            <a:avLst/>
          </a:prstGeom>
          <a:solidFill>
            <a:srgbClr val="352820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500" b="0">
                <a:solidFill>
                  <a:srgbClr val="F5F5F5"/>
                </a:solidFill>
                <a:latin typeface="맑은 고딕"/>
              </a:defRPr>
            </a:pPr>
            <a:r>
              <a:t>cube/service.py:</a:t>
            </a:r>
            <a:br/>
            <a:r>
              <a:t>process_incoming_message</a:t>
            </a:r>
            <a:br/>
            <a:br/>
            <a:r>
              <a:t>① wake-up 판정</a:t>
            </a:r>
            <a:br/>
            <a:r>
              <a:t>② history 조회 + user message 저장</a:t>
            </a:r>
            <a:br/>
            <a:r>
              <a:t>③ generate_reply (httpx → LLM)</a:t>
            </a:r>
            <a:br/>
            <a:r>
              <a:t>④ assistant message 저장</a:t>
            </a:r>
            <a:br/>
            <a:r>
              <a:t>⑤ send_multimessage (Cube 응답)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변경 후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920240"/>
            <a:ext cx="5669280" cy="3200400"/>
          </a:xfrm>
          <a:prstGeom prst="roundRect">
            <a:avLst/>
          </a:prstGeom>
          <a:solidFill>
            <a:srgbClr val="20302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5F5F5"/>
                </a:solidFill>
                <a:latin typeface="맑은 고딕"/>
              </a:defRPr>
            </a:pPr>
            <a:r>
              <a:t>cube/service.py</a:t>
            </a:r>
            <a:br/>
            <a:r>
              <a:t>  ├ wake-up / empty / duplicate 판정 (유지)</a:t>
            </a:r>
            <a:br/>
            <a:r>
              <a:t>  ├ chat/service.py 호출 → ChatResult</a:t>
            </a:r>
            <a:br/>
            <a:r>
              <a:t>  │  ├ ! command → 직접 처리</a:t>
            </a:r>
            <a:br/>
            <a:r>
              <a:t>  │  ├ workflows/chat/graph 실행</a:t>
            </a:r>
            <a:br/>
            <a:r>
              <a:t>  │  │  ├ llm/registry 모델 선택</a:t>
            </a:r>
            <a:br/>
            <a:r>
              <a:t>  │  │  ├ mcp tool calling</a:t>
            </a:r>
            <a:br/>
            <a:r>
              <a:t>  │  │  └ ChatResult 생성</a:t>
            </a:r>
            <a:br/>
            <a:r>
              <a:t>  │  └ ChatResult 반환</a:t>
            </a:r>
            <a:br/>
            <a:r>
              <a:t>  ├ 응답 포맷 결정 → 전송</a:t>
            </a:r>
            <a:br/>
            <a:r>
              <a:t>  ├ reply_sent 플래그 (Redis)</a:t>
            </a:r>
            <a:br/>
            <a:r>
              <a:t>  └ archive/service.py (비동기)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86400"/>
            <a:ext cx="10972800" cy="73152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500" b="1">
                <a:solidFill>
                  <a:srgbClr val="F9E2AF"/>
                </a:solidFill>
                <a:latin typeface="맑은 고딕"/>
              </a:defRPr>
            </a:pPr>
            <a:r>
              <a:t>핵심: cube/service.py는 ChatResult를 받아 적절한 Cube 포맷으로 변환·전송하는 역할만 하고, 대화 로직은 chat/ + workflows/로 이동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08. 초기 구현 범위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6E3A1"/>
                </a:solidFill>
                <a:latin typeface="맑은 고딕"/>
              </a:defRPr>
            </a:pPr>
            <a:r>
              <a:t>먼저 만드는 것 (Phase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api/chat/ — 채팅 유스케이스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api/workflows/chat/ — LangGraph 구현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api/llm/ — 레지스트리 리팩터링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api/archive/ — OpenSearch 아카이빙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api/mcp/ — MCP 인프라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0A0B0"/>
                </a:solidFill>
                <a:latin typeface="맑은 고딕"/>
              </a:defRPr>
            </a:pPr>
            <a:r>
              <a:t>나중에 만드는 것 (Phase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9202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A0A0B0"/>
                </a:solidFill>
                <a:latin typeface="맑은 고딕"/>
              </a:defRPr>
            </a:pPr>
            <a:r>
              <a:t>  api/workflows/rag/ — RAG subgraph</a:t>
            </a:r>
          </a:p>
          <a:p>
            <a:pPr>
              <a:spcAft>
                <a:spcPts val="600"/>
              </a:spcAft>
              <a:defRPr sz="1700">
                <a:solidFill>
                  <a:srgbClr val="A0A0B0"/>
                </a:solidFill>
                <a:latin typeface="맑은 고딕"/>
              </a:defRPr>
            </a:pPr>
            <a:r>
              <a:t>  api/workflows/agent/ — Agent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맑은 고딕"/>
              </a:defRPr>
            </a:pPr>
            <a:r>
              <a:t>전략: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chat workflow부터 시작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MCP는 처음부터 확장형으로 분리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아카이빙은 초기부터 구축하여 대화 품질 개선에 활용</a:t>
            </a:r>
          </a:p>
          <a:p>
            <a:pPr>
              <a:spcAft>
                <a:spcPts val="600"/>
              </a:spcAft>
              <a:defRPr sz="1700">
                <a:solidFill>
                  <a:srgbClr val="F5F5F5"/>
                </a:solidFill>
                <a:latin typeface="맑은 고딕"/>
              </a:defRPr>
            </a:pPr>
            <a:r>
              <a:t>  RAG와 Agent는 실제 복잡도가 생기면 subgraph로 승격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474720"/>
            <a:ext cx="5029200" cy="1371600"/>
          </a:xfrm>
          <a:prstGeom prst="roundRect">
            <a:avLst/>
          </a:prstGeom>
          <a:solidFill>
            <a:srgbClr val="2A2A4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400" b="0">
                <a:solidFill>
                  <a:srgbClr val="F9E2AF"/>
                </a:solidFill>
                <a:latin typeface="맑은 고딕"/>
              </a:defRPr>
            </a:pPr>
            <a:r>
              <a:t>필요 의존성:</a:t>
            </a:r>
            <a:br/>
            <a:r>
              <a:t>langgraph, langchain-core, langchain-openai</a:t>
            </a:r>
            <a:br/>
            <a:r>
              <a:t>langgraph-checkpoint-mongodb, opensearch-py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09. 예상 인터페이스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맑은 고딕"/>
              </a:defRPr>
            </a:pPr>
            <a:r>
              <a:t>chat/service.py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691640"/>
            <a:ext cx="3474720" cy="128016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def run_chat_workflow(</a:t>
            </a:r>
            <a:br/>
            <a:r>
              <a:t>    incoming: CubeIncomingMessage,</a:t>
            </a:r>
            <a:br/>
            <a:r>
              <a:t>    attempt: int = 0</a:t>
            </a:r>
            <a:br/>
            <a:r>
              <a:t>) -&gt; ChatResult: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맑은 고딕"/>
              </a:defRPr>
            </a:pPr>
            <a:r>
              <a:t>workflows/chat/state.py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691640"/>
            <a:ext cx="3657600" cy="128016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State 필드:</a:t>
            </a:r>
            <a:br/>
            <a:r>
              <a:t>messages, user_id, channel_id</a:t>
            </a:r>
            <a:br/>
            <a:r>
              <a:t>requested_model, resolved_model</a:t>
            </a:r>
            <a:br/>
            <a:r>
              <a:t>selected_tools, tool_results,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8016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맑은 고딕"/>
              </a:defRPr>
            </a:pPr>
            <a:r>
              <a:t>llm/registry.py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691640"/>
            <a:ext cx="3566160" cy="128016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def get_model(</a:t>
            </a:r>
            <a:br/>
            <a:r>
              <a:t>    task: str | None = None</a:t>
            </a:r>
            <a:br/>
            <a:r>
              <a:t>) -&gt; ChatOpenAI:</a:t>
            </a:r>
            <a:br/>
            <a:r>
              <a:t>    """task에 맞는 모델 반환"""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91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맑은 고딕"/>
              </a:defRPr>
            </a:pPr>
            <a:r>
              <a:t>archive/service.py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5029200" cy="164592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def archive_conversation(</a:t>
            </a:r>
            <a:br/>
            <a:r>
              <a:t>    thread_id: str,</a:t>
            </a:r>
            <a:br/>
            <a:r>
              <a:t>    messages: list[BaseMessage],</a:t>
            </a:r>
            <a:br/>
            <a:r>
              <a:t>    **metadata</a:t>
            </a:r>
            <a:br/>
            <a:r>
              <a:t>) -&gt; None</a:t>
            </a:r>
            <a:br/>
            <a:br/>
            <a:r>
              <a:t>def trim_old_history(</a:t>
            </a:r>
            <a:br/>
            <a:r>
              <a:t>    thread_id: str, *, keep_recent: int = 20</a:t>
            </a:r>
            <a:br/>
            <a:r>
              <a:t>) -&gt; None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32918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9B4FA"/>
                </a:solidFill>
                <a:latin typeface="맑은 고딕"/>
              </a:defRPr>
            </a:pPr>
            <a:r>
              <a:t>cube/models.py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0" y="3703320"/>
            <a:ext cx="5669280" cy="91440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9E2AF"/>
                </a:solidFill>
                <a:latin typeface="맑은 고딕"/>
              </a:defRPr>
            </a:pPr>
            <a:r>
              <a:t>CubeIncomingMessage에 추가:</a:t>
            </a:r>
            <a:br/>
            <a:r>
              <a:t>  requested_model: str | None = None</a:t>
            </a:r>
            <a:br/>
            <a:r>
              <a:t>→ queue 통과 시에도 보존되어야 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10. 테스트 계획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test_cube_service.py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Cube → chat 위임 검증</a:t>
            </a:r>
            <a:br/>
            <a:r>
              <a:t>empty/wake-up/duplicate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test_chat_service.py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88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채팅 유스케이스 진입점</a:t>
            </a:r>
            <a:br/>
            <a:r>
              <a:t>history 연결 &amp; 응답 후처리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test_chat_graph.py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일반 응답 / conditional routing</a:t>
            </a:r>
            <a:br/>
            <a:r>
              <a:t>tool loop 경로 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test_llm_registry.py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모델 목록 / task 기반 선택</a:t>
            </a:r>
            <a:br/>
            <a:r>
              <a:t>미등록 모델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test_mcp_registry.py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MCP 서버 설정 로딩</a:t>
            </a:r>
            <a:br/>
            <a:r>
              <a:t>enabled/disabled 처리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test_mcp_executor.py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889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tool 서버 라우팅 / timeout</a:t>
            </a:r>
            <a:br/>
            <a:r>
              <a:t>graceful degradation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test_archive_service.py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38862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키워드·만족도 추출</a:t>
            </a:r>
            <a:br/>
            <a:r>
              <a:t>OpenSearch 인덱싱 (mock)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663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6E3A1"/>
                </a:solidFill>
                <a:latin typeface="맑은 고딕"/>
              </a:defRPr>
            </a:pPr>
            <a:r>
              <a:t>test_rag_retriever.py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983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맑은 고딕"/>
              </a:defRPr>
            </a:pPr>
            <a:r>
              <a:t>retrieval &amp; context 조합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73152" cy="502920"/>
          </a:xfrm>
          <a:prstGeom prst="rect">
            <a:avLst/>
          </a:prstGeom>
          <a:solidFill>
            <a:srgbClr val="89B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114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89B4FA"/>
                </a:solidFill>
                <a:latin typeface="맑은 고딕"/>
              </a:defRPr>
            </a:pPr>
            <a:r>
              <a:t>11. 최종 권장안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0972800" cy="12700"/>
          </a:xfrm>
          <a:prstGeom prst="rect">
            <a:avLst/>
          </a:prstGeom>
          <a:solidFill>
            <a:srgbClr val="404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89B4FA"/>
                </a:solidFill>
                <a:latin typeface="맑은 고딕"/>
              </a:defRPr>
            </a:pPr>
            <a:r>
              <a:t>api/chat/</a:t>
            </a:r>
            <a:br/>
            <a:br/>
            <a:r>
              <a:t>채팅 유스케이스 (command 처리 포함)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13716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89B4FA"/>
                </a:solidFill>
                <a:latin typeface="맑은 고딕"/>
              </a:defRPr>
            </a:pPr>
            <a:r>
              <a:t>api/workflows/chat/</a:t>
            </a:r>
            <a:br/>
            <a:br/>
            <a:r>
              <a:t>현재 주력 LangGraph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3716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A6E3A1"/>
                </a:solidFill>
                <a:latin typeface="맑은 고딕"/>
              </a:defRPr>
            </a:pPr>
            <a:r>
              <a:t>api/llm/</a:t>
            </a:r>
            <a:br/>
            <a:br/>
            <a:r>
              <a:t>LangChain 모델 레지스트리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0" y="13716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A6E3A1"/>
                </a:solidFill>
                <a:latin typeface="맑은 고딕"/>
              </a:defRPr>
            </a:pPr>
            <a:r>
              <a:t>api/mcp/</a:t>
            </a:r>
            <a:br/>
            <a:br/>
            <a:r>
              <a:t>대규모 MCP tool calling 인프라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AB387"/>
                </a:solidFill>
                <a:latin typeface="맑은 고딕"/>
              </a:defRPr>
            </a:pPr>
            <a:r>
              <a:t>api/archive/</a:t>
            </a:r>
            <a:br/>
            <a:br/>
            <a:r>
              <a:t>대화 아카이빙 (OpenSearch) + 트리밍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7432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FAB387"/>
                </a:solidFill>
                <a:latin typeface="맑은 고딕"/>
              </a:defRPr>
            </a:pPr>
            <a:r>
              <a:t>api/rag/</a:t>
            </a:r>
            <a:br/>
            <a:br/>
            <a:r>
              <a:t>retrieval 기능 계층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52160" y="27432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A0A0B0"/>
                </a:solidFill>
                <a:latin typeface="맑은 고딕"/>
              </a:defRPr>
            </a:pPr>
            <a:r>
              <a:t>api/workflows/rag/</a:t>
            </a:r>
            <a:br/>
            <a:br/>
            <a:r>
              <a:t>나중에 RAG subgraph 시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2743200"/>
            <a:ext cx="2468880" cy="1097280"/>
          </a:xfrm>
          <a:prstGeom prst="roundRect">
            <a:avLst/>
          </a:prstGeom>
          <a:solidFill>
            <a:srgbClr val="202035"/>
          </a:solidFill>
          <a:ln w="12700">
            <a:solidFill>
              <a:srgbClr val="89B4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defRPr sz="1300" b="0">
                <a:solidFill>
                  <a:srgbClr val="A0A0B0"/>
                </a:solidFill>
                <a:latin typeface="맑은 고딕"/>
              </a:defRPr>
            </a:pPr>
            <a:r>
              <a:t>api/workflows/agent/</a:t>
            </a:r>
            <a:br/>
            <a:br/>
            <a:r>
              <a:t>나중에 agent loop 시 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9B4FA"/>
                </a:solidFill>
                <a:latin typeface="맑은 고딕"/>
              </a:defRPr>
            </a:pPr>
            <a:r>
              <a:t>대화 히스토리 관리 전략: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실시간: LangGraph checkpointer (MongoDBSaver) 자동 저장/복원</a:t>
            </a:r>
          </a:p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아카이빙: 완료된 대화 → archive/ → 키워드·만족도 추출 → OpenSearch</a:t>
            </a:r>
          </a:p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트리밍: scheduled_tasks/에서 주기적으로 오래된 히스토리 정리</a:t>
            </a:r>
          </a:p>
          <a:p>
            <a:pPr>
              <a:spcAft>
                <a:spcPts val="600"/>
              </a:spcAft>
              <a:defRPr sz="1600">
                <a:solidFill>
                  <a:srgbClr val="F5F5F5"/>
                </a:solidFill>
                <a:latin typeface="맑은 고딕"/>
              </a:defRPr>
            </a:pPr>
            <a:r>
              <a:t>  기존 conversation_service.py → checkpointer로 대체 후 제거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